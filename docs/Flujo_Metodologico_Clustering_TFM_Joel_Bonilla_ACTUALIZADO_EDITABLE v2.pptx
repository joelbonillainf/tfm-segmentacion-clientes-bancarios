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48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27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0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62488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62488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62488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62488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72216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72216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72216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72216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72216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72216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81944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81944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81944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81944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91672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91672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91672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91672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91672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91672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01400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01400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01400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01400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01400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11128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11128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11128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311128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11128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311128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20856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20856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20856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20856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20856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20856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530584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530584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30584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530584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30584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0584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0312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640312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640312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640312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0312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640312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750040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50040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750040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750040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50040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750040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59768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859768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859768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859768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59768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859768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4048" y="100584"/>
            <a:ext cx="320040" cy="146304"/>
          </a:xfrm>
          <a:prstGeom prst="triangl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246888"/>
            <a:ext cx="457200" cy="54864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76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008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0040" y="576072"/>
            <a:ext cx="457200" cy="5029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64008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74320" y="7680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99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 ★ ★ ★ ★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1292840" y="73152"/>
            <a:ext cx="502920" cy="566928"/>
          </a:xfrm>
          <a:prstGeom prst="pentagon">
            <a:avLst/>
          </a:prstGeom>
          <a:solidFill>
            <a:srgbClr val="0B2C5F"/>
          </a:solidFill>
          <a:ln w="25400">
            <a:solidFill>
              <a:srgbClr val="C9972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430000" y="402336"/>
            <a:ext cx="50292" cy="118872"/>
          </a:xfrm>
          <a:prstGeom prst="rect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512296" y="320040"/>
            <a:ext cx="50292" cy="201168"/>
          </a:xfrm>
          <a:prstGeom prst="rect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594592" y="246888"/>
            <a:ext cx="50292" cy="274320"/>
          </a:xfrm>
          <a:prstGeom prst="rect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11712" y="274320"/>
            <a:ext cx="274320" cy="0"/>
          </a:xfrm>
          <a:prstGeom prst="line">
            <a:avLst/>
          </a:prstGeom>
          <a:noFill/>
          <a:ln w="20320">
            <a:solidFill>
              <a:srgbClr val="C9972E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1234440" y="7315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C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metodológico integral para la generación de clusters y asignación de nuevos clientes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1463040" y="384048"/>
            <a:ext cx="9372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inteligente de clientes bancarios a partir del historial transaccional de tarjetas de crédito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681728" y="713232"/>
            <a:ext cx="2816352" cy="0"/>
          </a:xfrm>
          <a:prstGeom prst="line">
            <a:avLst/>
          </a:prstGeom>
          <a:noFill/>
          <a:ln w="15240">
            <a:solidFill>
              <a:srgbClr val="C9972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89320" y="658368"/>
            <a:ext cx="100584" cy="100584"/>
          </a:xfrm>
          <a:prstGeom prst="diamond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8600" y="987552"/>
            <a:ext cx="213969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283464" y="1051560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83464" y="10789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95" name="Text 93"/>
          <p:cNvSpPr/>
          <p:nvPr/>
        </p:nvSpPr>
        <p:spPr>
          <a:xfrm>
            <a:off x="548640" y="1060704"/>
            <a:ext cx="1728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datos</a:t>
            </a:r>
            <a:endParaRPr lang="en-US" sz="770" dirty="0"/>
          </a:p>
        </p:txBody>
      </p:sp>
      <p:sp>
        <p:nvSpPr>
          <p:cNvPr id="96" name="Shape 94"/>
          <p:cNvSpPr/>
          <p:nvPr/>
        </p:nvSpPr>
        <p:spPr>
          <a:xfrm>
            <a:off x="384048" y="1417320"/>
            <a:ext cx="365760" cy="365760"/>
          </a:xfrm>
          <a:prstGeom prst="can">
            <a:avLst/>
          </a:prstGeom>
          <a:solidFill>
            <a:srgbClr val="1F5D99"/>
          </a:solidFill>
          <a:ln w="10160">
            <a:solidFill>
              <a:srgbClr val="0B2C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1792" y="1517904"/>
            <a:ext cx="50292" cy="50292"/>
          </a:xfrm>
          <a:prstGeom prst="ellipse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1792" y="1645920"/>
            <a:ext cx="50292" cy="50292"/>
          </a:xfrm>
          <a:prstGeom prst="ellipse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42416" y="1243583"/>
            <a:ext cx="1042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Dataset público de Kaggle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1,296,675 transacciones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Datos anonimizados de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tarjeta de crédito</a:t>
            </a:r>
            <a:endParaRPr lang="en-US" sz="545" dirty="0"/>
          </a:p>
        </p:txBody>
      </p:sp>
      <p:sp>
        <p:nvSpPr>
          <p:cNvPr id="100" name="Shape 98"/>
          <p:cNvSpPr/>
          <p:nvPr/>
        </p:nvSpPr>
        <p:spPr>
          <a:xfrm>
            <a:off x="2386584" y="1700784"/>
            <a:ext cx="91440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496312" y="987552"/>
            <a:ext cx="213969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2551176" y="1051560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51176" y="10789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104" name="Text 102"/>
          <p:cNvSpPr/>
          <p:nvPr/>
        </p:nvSpPr>
        <p:spPr>
          <a:xfrm>
            <a:off x="2816352" y="1060704"/>
            <a:ext cx="1728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y</a:t>
            </a:r>
            <a:endParaRPr lang="en-US" sz="770" dirty="0"/>
          </a:p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 inicial</a:t>
            </a:r>
            <a:endParaRPr lang="en-US" sz="770" dirty="0"/>
          </a:p>
        </p:txBody>
      </p:sp>
      <p:sp>
        <p:nvSpPr>
          <p:cNvPr id="105" name="Shape 103"/>
          <p:cNvSpPr/>
          <p:nvPr/>
        </p:nvSpPr>
        <p:spPr>
          <a:xfrm>
            <a:off x="2679192" y="1444752"/>
            <a:ext cx="274320" cy="347472"/>
          </a:xfrm>
          <a:prstGeom prst="rect">
            <a:avLst/>
          </a:prstGeom>
          <a:solidFill>
            <a:srgbClr val="F8FBFF"/>
          </a:solidFill>
          <a:ln w="15240">
            <a:solidFill>
              <a:srgbClr val="0B2C5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15768" y="147218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8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008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008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2862072" y="1645920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3970">
            <a:solidFill>
              <a:srgbClr val="0B2C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99232" y="1801368"/>
            <a:ext cx="128016" cy="109728"/>
          </a:xfrm>
          <a:prstGeom prst="line">
            <a:avLst/>
          </a:prstGeom>
          <a:noFill/>
          <a:ln w="25400">
            <a:solidFill>
              <a:srgbClr val="0B2C5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272536" y="1133856"/>
            <a:ext cx="103251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Revisión de tipos, nulos,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duplicados y consistencia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Conversión de fechas y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validación estructural</a:t>
            </a:r>
            <a:endParaRPr lang="en-US" sz="545" dirty="0"/>
          </a:p>
        </p:txBody>
      </p:sp>
      <p:sp>
        <p:nvSpPr>
          <p:cNvPr id="110" name="Shape 108"/>
          <p:cNvSpPr/>
          <p:nvPr/>
        </p:nvSpPr>
        <p:spPr>
          <a:xfrm>
            <a:off x="4654296" y="1700784"/>
            <a:ext cx="91440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4764024" y="987552"/>
            <a:ext cx="213969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4818888" y="1051560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818888" y="10789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114" name="Text 112"/>
          <p:cNvSpPr/>
          <p:nvPr/>
        </p:nvSpPr>
        <p:spPr>
          <a:xfrm>
            <a:off x="5084064" y="1060704"/>
            <a:ext cx="1728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Transformación</a:t>
            </a:r>
            <a:endParaRPr lang="en-US" sz="770" dirty="0"/>
          </a:p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transacción → cliente</a:t>
            </a:r>
            <a:endParaRPr lang="en-US" sz="770" dirty="0"/>
          </a:p>
        </p:txBody>
      </p:sp>
      <p:sp>
        <p:nvSpPr>
          <p:cNvPr id="115" name="Shape 113"/>
          <p:cNvSpPr/>
          <p:nvPr/>
        </p:nvSpPr>
        <p:spPr>
          <a:xfrm>
            <a:off x="4937760" y="1435608"/>
            <a:ext cx="384048" cy="384048"/>
          </a:xfrm>
          <a:prstGeom prst="funnel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983480" y="13898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8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 ▪ ▪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477256" y="1123696"/>
            <a:ext cx="128930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Agregación a nivel cliente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983 clientes únicos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Variables de frecuencia, recencia,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gasto, ticket, diversidad,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concentración y temporalidad</a:t>
            </a:r>
            <a:endParaRPr lang="en-US" sz="545" dirty="0"/>
          </a:p>
        </p:txBody>
      </p:sp>
      <p:sp>
        <p:nvSpPr>
          <p:cNvPr id="118" name="Shape 116"/>
          <p:cNvSpPr/>
          <p:nvPr/>
        </p:nvSpPr>
        <p:spPr>
          <a:xfrm>
            <a:off x="6922008" y="1700784"/>
            <a:ext cx="91440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7031736" y="987552"/>
            <a:ext cx="213969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7086600" y="1051560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86600" y="10789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40" dirty="0"/>
          </a:p>
        </p:txBody>
      </p:sp>
      <p:sp>
        <p:nvSpPr>
          <p:cNvPr id="122" name="Text 120"/>
          <p:cNvSpPr/>
          <p:nvPr/>
        </p:nvSpPr>
        <p:spPr>
          <a:xfrm>
            <a:off x="7351776" y="1060704"/>
            <a:ext cx="1728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exploratorio y</a:t>
            </a:r>
            <a:endParaRPr lang="en-US" sz="770" dirty="0"/>
          </a:p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sesgos</a:t>
            </a:r>
            <a:endParaRPr lang="en-US" sz="770" dirty="0"/>
          </a:p>
        </p:txBody>
      </p:sp>
      <p:sp>
        <p:nvSpPr>
          <p:cNvPr id="123" name="Shape 121"/>
          <p:cNvSpPr/>
          <p:nvPr/>
        </p:nvSpPr>
        <p:spPr>
          <a:xfrm>
            <a:off x="7141464" y="1463040"/>
            <a:ext cx="237744" cy="283464"/>
          </a:xfrm>
          <a:prstGeom prst="chartPlus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97496" y="1435608"/>
            <a:ext cx="256032" cy="347472"/>
          </a:xfrm>
          <a:prstGeom prst="pentagon">
            <a:avLst/>
          </a:prstGeom>
          <a:solidFill>
            <a:srgbClr val="0B2C5F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4928" y="1527048"/>
            <a:ext cx="210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7738110" y="1152398"/>
            <a:ext cx="1252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Asimetría y outliers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Auditoría ética y exclusión de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variables sensibles / proxy bias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Variables no usadas: identificadores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y atributos personales</a:t>
            </a:r>
            <a:endParaRPr lang="en-US" sz="545" dirty="0"/>
          </a:p>
        </p:txBody>
      </p:sp>
      <p:sp>
        <p:nvSpPr>
          <p:cNvPr id="127" name="Shape 125"/>
          <p:cNvSpPr/>
          <p:nvPr/>
        </p:nvSpPr>
        <p:spPr>
          <a:xfrm>
            <a:off x="9189720" y="1700784"/>
            <a:ext cx="91440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9299448" y="987552"/>
            <a:ext cx="213969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9354312" y="1051560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354312" y="10789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40" dirty="0"/>
          </a:p>
        </p:txBody>
      </p:sp>
      <p:sp>
        <p:nvSpPr>
          <p:cNvPr id="131" name="Text 129"/>
          <p:cNvSpPr/>
          <p:nvPr/>
        </p:nvSpPr>
        <p:spPr>
          <a:xfrm>
            <a:off x="9619488" y="1060704"/>
            <a:ext cx="1728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Preprocesamiento</a:t>
            </a:r>
            <a:endParaRPr lang="en-US" sz="770" dirty="0"/>
          </a:p>
          <a:p>
            <a:pPr marL="0" indent="0" algn="ctr">
              <a:buNone/>
            </a:pPr>
            <a:r>
              <a:rPr lang="en-US" sz="77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selectivo</a:t>
            </a:r>
            <a:endParaRPr lang="en-US" sz="770" dirty="0"/>
          </a:p>
        </p:txBody>
      </p:sp>
      <p:sp>
        <p:nvSpPr>
          <p:cNvPr id="132" name="Shape 130"/>
          <p:cNvSpPr/>
          <p:nvPr/>
        </p:nvSpPr>
        <p:spPr>
          <a:xfrm>
            <a:off x="9454896" y="1453896"/>
            <a:ext cx="292608" cy="292608"/>
          </a:xfrm>
          <a:prstGeom prst="gear6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793224" y="1508760"/>
            <a:ext cx="237744" cy="0"/>
          </a:xfrm>
          <a:prstGeom prst="line">
            <a:avLst/>
          </a:prstGeom>
          <a:noFill/>
          <a:ln w="13970">
            <a:solidFill>
              <a:srgbClr val="0B2C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7232" y="1481328"/>
            <a:ext cx="50292" cy="50292"/>
          </a:xfrm>
          <a:prstGeom prst="ellipse">
            <a:avLst/>
          </a:prstGeom>
          <a:solidFill>
            <a:srgbClr val="00897B"/>
          </a:solidFill>
          <a:ln w="7620">
            <a:solidFill>
              <a:srgbClr val="0B2C5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793224" y="1600200"/>
            <a:ext cx="237744" cy="0"/>
          </a:xfrm>
          <a:prstGeom prst="line">
            <a:avLst/>
          </a:prstGeom>
          <a:noFill/>
          <a:ln w="13970">
            <a:solidFill>
              <a:srgbClr val="0B2C5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80092" y="1572768"/>
            <a:ext cx="50292" cy="50292"/>
          </a:xfrm>
          <a:prstGeom prst="ellipse">
            <a:avLst/>
          </a:prstGeom>
          <a:solidFill>
            <a:srgbClr val="00897B"/>
          </a:solidFill>
          <a:ln w="7620">
            <a:solidFill>
              <a:srgbClr val="0B2C5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793224" y="1691640"/>
            <a:ext cx="237744" cy="0"/>
          </a:xfrm>
          <a:prstGeom prst="line">
            <a:avLst/>
          </a:prstGeom>
          <a:noFill/>
          <a:ln w="13970">
            <a:solidFill>
              <a:srgbClr val="0B2C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902952" y="1664208"/>
            <a:ext cx="50292" cy="50292"/>
          </a:xfrm>
          <a:prstGeom prst="ellipse">
            <a:avLst/>
          </a:prstGeom>
          <a:solidFill>
            <a:srgbClr val="00897B"/>
          </a:solidFill>
          <a:ln w="7620">
            <a:solidFill>
              <a:srgbClr val="0B2C5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085832" y="1221930"/>
            <a:ext cx="127311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Winsorización selectiva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Transformaciones log1p y evaluación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Box-Cox / Yeo-Johnson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Exclusión de ticket_min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Escalado robusto (5–95)</a:t>
            </a:r>
            <a:endParaRPr lang="en-US" sz="545" dirty="0"/>
          </a:p>
          <a:p>
            <a:pPr marL="0" indent="0">
              <a:buNone/>
            </a:pPr>
            <a:r>
              <a:rPr lang="en-US" sz="54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PCA para análisis dimensional</a:t>
            </a:r>
            <a:endParaRPr lang="en-US" sz="545" dirty="0"/>
          </a:p>
        </p:txBody>
      </p:sp>
      <p:sp>
        <p:nvSpPr>
          <p:cNvPr id="140" name="Shape 138"/>
          <p:cNvSpPr/>
          <p:nvPr/>
        </p:nvSpPr>
        <p:spPr>
          <a:xfrm>
            <a:off x="4297680" y="2633472"/>
            <a:ext cx="3611880" cy="329184"/>
          </a:xfrm>
          <a:prstGeom prst="roundRect">
            <a:avLst>
              <a:gd name="adj" fmla="val 33333"/>
            </a:avLst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34256" y="2660904"/>
            <a:ext cx="256032" cy="256032"/>
          </a:xfrm>
          <a:prstGeom prst="ellipse">
            <a:avLst/>
          </a:prstGeom>
          <a:solidFill>
            <a:srgbClr val="1F5D99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334256" y="269748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20" dirty="0"/>
          </a:p>
        </p:txBody>
      </p:sp>
      <p:sp>
        <p:nvSpPr>
          <p:cNvPr id="143" name="Text 141"/>
          <p:cNvSpPr/>
          <p:nvPr/>
        </p:nvSpPr>
        <p:spPr>
          <a:xfrm>
            <a:off x="4617720" y="2697480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suficiencia del historial</a:t>
            </a:r>
            <a:endParaRPr lang="en-US" sz="840" dirty="0"/>
          </a:p>
        </p:txBody>
      </p:sp>
      <p:sp>
        <p:nvSpPr>
          <p:cNvPr id="144" name="Shape 142"/>
          <p:cNvSpPr/>
          <p:nvPr/>
        </p:nvSpPr>
        <p:spPr>
          <a:xfrm>
            <a:off x="4315968" y="2798064"/>
            <a:ext cx="0" cy="448056"/>
          </a:xfrm>
          <a:prstGeom prst="line">
            <a:avLst/>
          </a:prstGeom>
          <a:noFill/>
          <a:ln w="1524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7790688" y="2798064"/>
            <a:ext cx="758952" cy="448056"/>
          </a:xfrm>
          <a:prstGeom prst="line">
            <a:avLst/>
          </a:prstGeom>
          <a:noFill/>
          <a:ln w="15240">
            <a:solidFill>
              <a:srgbClr val="B23A3A"/>
            </a:solidFill>
            <a:prstDash val="solid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5788152" y="3108960"/>
            <a:ext cx="603504" cy="512064"/>
          </a:xfrm>
          <a:prstGeom prst="diamond">
            <a:avLst/>
          </a:prstGeom>
          <a:solidFill>
            <a:srgbClr val="FFF9EA"/>
          </a:solidFill>
          <a:ln w="15240">
            <a:solidFill>
              <a:srgbClr val="C9972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907024" y="32095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74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</a:t>
            </a:r>
            <a:endParaRPr lang="en-US" sz="1400" dirty="0"/>
          </a:p>
        </p:txBody>
      </p:sp>
      <p:sp>
        <p:nvSpPr>
          <p:cNvPr id="148" name="Shape 146"/>
          <p:cNvSpPr/>
          <p:nvPr/>
        </p:nvSpPr>
        <p:spPr>
          <a:xfrm>
            <a:off x="2697480" y="3182112"/>
            <a:ext cx="2304288" cy="640080"/>
          </a:xfrm>
          <a:prstGeom prst="roundRect">
            <a:avLst>
              <a:gd name="adj" fmla="val 11429"/>
            </a:avLst>
          </a:prstGeom>
          <a:solidFill>
            <a:srgbClr val="E6F5F2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07792" y="3319272"/>
            <a:ext cx="219456" cy="21945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907792" y="335127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3246120" y="32461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elegibles</a:t>
            </a:r>
            <a:endParaRPr lang="en-US" sz="760" dirty="0"/>
          </a:p>
        </p:txBody>
      </p:sp>
      <p:sp>
        <p:nvSpPr>
          <p:cNvPr id="152" name="Text 150"/>
          <p:cNvSpPr/>
          <p:nvPr/>
        </p:nvSpPr>
        <p:spPr>
          <a:xfrm>
            <a:off x="3182112" y="34290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30 transacciones y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30 días observados</a:t>
            </a:r>
            <a:endParaRPr lang="en-US" sz="580" dirty="0"/>
          </a:p>
        </p:txBody>
      </p:sp>
      <p:sp>
        <p:nvSpPr>
          <p:cNvPr id="153" name="Text 151"/>
          <p:cNvSpPr/>
          <p:nvPr/>
        </p:nvSpPr>
        <p:spPr>
          <a:xfrm>
            <a:off x="3246120" y="36393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908 clientes</a:t>
            </a:r>
            <a:endParaRPr lang="en-US" sz="820" dirty="0"/>
          </a:p>
        </p:txBody>
      </p:sp>
      <p:sp>
        <p:nvSpPr>
          <p:cNvPr id="154" name="Shape 152"/>
          <p:cNvSpPr/>
          <p:nvPr/>
        </p:nvSpPr>
        <p:spPr>
          <a:xfrm>
            <a:off x="6931152" y="3182112"/>
            <a:ext cx="2487168" cy="640080"/>
          </a:xfrm>
          <a:prstGeom prst="roundRect">
            <a:avLst>
              <a:gd name="adj" fmla="val 11429"/>
            </a:avLst>
          </a:prstGeom>
          <a:solidFill>
            <a:srgbClr val="FDEAEA"/>
          </a:solidFill>
          <a:ln w="15240">
            <a:solidFill>
              <a:srgbClr val="B23A3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68896" y="3310128"/>
            <a:ext cx="219456" cy="219456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168896" y="3340303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157" name="Text 155"/>
          <p:cNvSpPr/>
          <p:nvPr/>
        </p:nvSpPr>
        <p:spPr>
          <a:xfrm>
            <a:off x="7543800" y="324612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2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insuficiente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7589520" y="34015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2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clientes</a:t>
            </a:r>
            <a:endParaRPr lang="en-US" sz="740" dirty="0"/>
          </a:p>
        </p:txBody>
      </p:sp>
      <p:sp>
        <p:nvSpPr>
          <p:cNvPr id="159" name="Text 157"/>
          <p:cNvSpPr/>
          <p:nvPr/>
        </p:nvSpPr>
        <p:spPr>
          <a:xfrm>
            <a:off x="7452360" y="35570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separan para evitar</a:t>
            </a:r>
            <a:endParaRPr lang="en-US" sz="520" dirty="0"/>
          </a:p>
          <a:p>
            <a:pPr marL="0" indent="0" algn="ctr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distorsión en el clustering principal</a:t>
            </a:r>
            <a:endParaRPr lang="en-US" sz="520" dirty="0"/>
          </a:p>
        </p:txBody>
      </p:sp>
      <p:sp>
        <p:nvSpPr>
          <p:cNvPr id="160" name="Shape 158"/>
          <p:cNvSpPr/>
          <p:nvPr/>
        </p:nvSpPr>
        <p:spPr>
          <a:xfrm>
            <a:off x="228600" y="3977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61" name="Shape 159"/>
          <p:cNvSpPr/>
          <p:nvPr/>
        </p:nvSpPr>
        <p:spPr>
          <a:xfrm>
            <a:off x="283464" y="4041648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83464" y="40690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40" dirty="0"/>
          </a:p>
        </p:txBody>
      </p:sp>
      <p:sp>
        <p:nvSpPr>
          <p:cNvPr id="163" name="Text 161"/>
          <p:cNvSpPr/>
          <p:nvPr/>
        </p:nvSpPr>
        <p:spPr>
          <a:xfrm>
            <a:off x="548640" y="4050792"/>
            <a:ext cx="20116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Modelado de clustering</a:t>
            </a:r>
            <a:endParaRPr lang="en-US" sz="760" dirty="0"/>
          </a:p>
        </p:txBody>
      </p:sp>
      <p:sp>
        <p:nvSpPr>
          <p:cNvPr id="164" name="Shape 162"/>
          <p:cNvSpPr/>
          <p:nvPr/>
        </p:nvSpPr>
        <p:spPr>
          <a:xfrm>
            <a:off x="411480" y="4480560"/>
            <a:ext cx="91440" cy="91440"/>
          </a:xfrm>
          <a:prstGeom prst="ellipse">
            <a:avLst/>
          </a:prstGeom>
          <a:solidFill>
            <a:srgbClr val="E6F5F2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12064" y="4544568"/>
            <a:ext cx="73152" cy="73152"/>
          </a:xfrm>
          <a:prstGeom prst="ellipse">
            <a:avLst/>
          </a:prstGeom>
          <a:solidFill>
            <a:srgbClr val="EAF2FB"/>
          </a:solidFill>
          <a:ln w="10160">
            <a:solidFill>
              <a:srgbClr val="1F5D99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84632" y="4553712"/>
            <a:ext cx="73152" cy="45720"/>
          </a:xfrm>
          <a:prstGeom prst="line">
            <a:avLst/>
          </a:prstGeom>
          <a:noFill/>
          <a:ln w="7620">
            <a:solidFill>
              <a:srgbClr val="0B2C5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0080" y="4480560"/>
            <a:ext cx="91440" cy="91440"/>
          </a:xfrm>
          <a:prstGeom prst="ellipse">
            <a:avLst/>
          </a:prstGeom>
          <a:solidFill>
            <a:srgbClr val="E6F5F2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40664" y="4544568"/>
            <a:ext cx="73152" cy="73152"/>
          </a:xfrm>
          <a:prstGeom prst="ellipse">
            <a:avLst/>
          </a:prstGeom>
          <a:solidFill>
            <a:srgbClr val="EAF2FB"/>
          </a:solidFill>
          <a:ln w="10160">
            <a:solidFill>
              <a:srgbClr val="1F5D9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13232" y="4553712"/>
            <a:ext cx="73152" cy="45720"/>
          </a:xfrm>
          <a:prstGeom prst="line">
            <a:avLst/>
          </a:prstGeom>
          <a:noFill/>
          <a:ln w="7620">
            <a:solidFill>
              <a:srgbClr val="0B2C5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11480" y="4663440"/>
            <a:ext cx="91440" cy="91440"/>
          </a:xfrm>
          <a:prstGeom prst="ellipse">
            <a:avLst/>
          </a:prstGeom>
          <a:solidFill>
            <a:srgbClr val="E6F5F2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12064" y="4727448"/>
            <a:ext cx="73152" cy="73152"/>
          </a:xfrm>
          <a:prstGeom prst="ellipse">
            <a:avLst/>
          </a:prstGeom>
          <a:solidFill>
            <a:srgbClr val="EAF2FB"/>
          </a:solidFill>
          <a:ln w="10160">
            <a:solidFill>
              <a:srgbClr val="1F5D99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84632" y="4736592"/>
            <a:ext cx="73152" cy="45720"/>
          </a:xfrm>
          <a:prstGeom prst="line">
            <a:avLst/>
          </a:prstGeom>
          <a:noFill/>
          <a:ln w="7620">
            <a:solidFill>
              <a:srgbClr val="0B2C5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" y="4663440"/>
            <a:ext cx="91440" cy="91440"/>
          </a:xfrm>
          <a:prstGeom prst="ellipse">
            <a:avLst/>
          </a:prstGeom>
          <a:solidFill>
            <a:srgbClr val="E6F5F2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40664" y="4727448"/>
            <a:ext cx="73152" cy="73152"/>
          </a:xfrm>
          <a:prstGeom prst="ellipse">
            <a:avLst/>
          </a:prstGeom>
          <a:solidFill>
            <a:srgbClr val="EAF2FB"/>
          </a:solidFill>
          <a:ln w="10160">
            <a:solidFill>
              <a:srgbClr val="1F5D9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13232" y="4736592"/>
            <a:ext cx="73152" cy="45720"/>
          </a:xfrm>
          <a:prstGeom prst="line">
            <a:avLst/>
          </a:prstGeom>
          <a:noFill/>
          <a:ln w="7620">
            <a:solidFill>
              <a:srgbClr val="0B2C5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040384" y="4258945"/>
            <a:ext cx="983573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K-Means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Clustering jerárquico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aglomerativo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HDBSCAN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Aplicado sobre la muestra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de clientes elegibles</a:t>
            </a:r>
            <a:endParaRPr lang="en-US" sz="530" dirty="0"/>
          </a:p>
        </p:txBody>
      </p:sp>
      <p:sp>
        <p:nvSpPr>
          <p:cNvPr id="177" name="Shape 175"/>
          <p:cNvSpPr/>
          <p:nvPr/>
        </p:nvSpPr>
        <p:spPr>
          <a:xfrm>
            <a:off x="2670048" y="4462272"/>
            <a:ext cx="256032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2944368" y="39776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79" name="Shape 177"/>
          <p:cNvSpPr/>
          <p:nvPr/>
        </p:nvSpPr>
        <p:spPr>
          <a:xfrm>
            <a:off x="2999232" y="4041648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999232" y="40690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40" dirty="0"/>
          </a:p>
        </p:txBody>
      </p:sp>
      <p:sp>
        <p:nvSpPr>
          <p:cNvPr id="181" name="Text 179"/>
          <p:cNvSpPr/>
          <p:nvPr/>
        </p:nvSpPr>
        <p:spPr>
          <a:xfrm>
            <a:off x="3264408" y="4050792"/>
            <a:ext cx="2423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y selección</a:t>
            </a:r>
            <a:endParaRPr lang="en-US" sz="760" dirty="0"/>
          </a:p>
        </p:txBody>
      </p:sp>
      <p:sp>
        <p:nvSpPr>
          <p:cNvPr id="182" name="Shape 180"/>
          <p:cNvSpPr/>
          <p:nvPr/>
        </p:nvSpPr>
        <p:spPr>
          <a:xfrm>
            <a:off x="3090672" y="4434840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B2C5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163824" y="4507992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F5D9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319272" y="4425696"/>
            <a:ext cx="164592" cy="0"/>
          </a:xfrm>
          <a:prstGeom prst="line">
            <a:avLst/>
          </a:prstGeom>
          <a:noFill/>
          <a:ln w="21590">
            <a:solidFill>
              <a:srgbClr val="C9972E"/>
            </a:solidFill>
            <a:prstDash val="solid"/>
            <a:tailEnd type="triangle"/>
          </a:ln>
        </p:spPr>
      </p:sp>
      <p:sp>
        <p:nvSpPr>
          <p:cNvPr id="185" name="Shape 183"/>
          <p:cNvSpPr/>
          <p:nvPr/>
        </p:nvSpPr>
        <p:spPr>
          <a:xfrm>
            <a:off x="3392424" y="4636008"/>
            <a:ext cx="228600" cy="137160"/>
          </a:xfrm>
          <a:prstGeom prst="rect">
            <a:avLst/>
          </a:prstGeom>
          <a:solidFill>
            <a:srgbClr val="EAF2FB"/>
          </a:solidFill>
          <a:ln w="10160">
            <a:solidFill>
              <a:srgbClr val="0B2C5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91949" y="4302252"/>
            <a:ext cx="1152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Métricas internas: Silhouette,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Davies-Bouldin, Calinski-Harabasz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Estabilidad: ARI por semillas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y bootstrap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Apoyo visual: PCA y t-SNE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Comparación k = 3 vs. k = 4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>
            <a:off x="5806440" y="4462272"/>
            <a:ext cx="210312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6035040" y="39776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4DA"/>
          </a:solidFill>
          <a:ln w="15875">
            <a:solidFill>
              <a:srgbClr val="C9972E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89" name="Shape 187"/>
          <p:cNvSpPr/>
          <p:nvPr/>
        </p:nvSpPr>
        <p:spPr>
          <a:xfrm>
            <a:off x="6089904" y="4041648"/>
            <a:ext cx="237744" cy="237744"/>
          </a:xfrm>
          <a:prstGeom prst="ellipse">
            <a:avLst/>
          </a:prstGeom>
          <a:solidFill>
            <a:srgbClr val="9D7415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089904" y="40690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40" dirty="0"/>
          </a:p>
        </p:txBody>
      </p:sp>
      <p:sp>
        <p:nvSpPr>
          <p:cNvPr id="191" name="Text 189"/>
          <p:cNvSpPr/>
          <p:nvPr/>
        </p:nvSpPr>
        <p:spPr>
          <a:xfrm>
            <a:off x="6355080" y="4050792"/>
            <a:ext cx="22860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D74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final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6272784" y="4443984"/>
            <a:ext cx="292608" cy="320040"/>
          </a:xfrm>
          <a:prstGeom prst="can">
            <a:avLst/>
          </a:prstGeom>
          <a:solidFill>
            <a:srgbClr val="C9972E"/>
          </a:solidFill>
          <a:ln w="13970">
            <a:solidFill>
              <a:srgbClr val="9D741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309360" y="451713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94" name="Shape 192"/>
          <p:cNvSpPr/>
          <p:nvPr/>
        </p:nvSpPr>
        <p:spPr>
          <a:xfrm>
            <a:off x="6345936" y="4764024"/>
            <a:ext cx="146304" cy="73152"/>
          </a:xfrm>
          <a:prstGeom prst="rect">
            <a:avLst/>
          </a:prstGeom>
          <a:solidFill>
            <a:srgbClr val="9D7415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171182" y="4293108"/>
            <a:ext cx="1051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Modelo seleccionado: K-Means</a:t>
            </a:r>
            <a:endParaRPr lang="en-US" sz="520" dirty="0"/>
          </a:p>
          <a:p>
            <a:pPr marL="0" indent="0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Muestra: clientes elegibles</a:t>
            </a:r>
            <a:endParaRPr lang="en-US" sz="520" dirty="0"/>
          </a:p>
          <a:p>
            <a:pPr marL="0" indent="0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k = 4</a:t>
            </a:r>
            <a:endParaRPr lang="en-US" sz="520" dirty="0"/>
          </a:p>
          <a:p>
            <a:pPr marL="0" indent="0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Criterios: calidad interna,</a:t>
            </a:r>
            <a:endParaRPr lang="en-US" sz="520" dirty="0"/>
          </a:p>
          <a:p>
            <a:pPr marL="0" indent="0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estabilidad, balance e</a:t>
            </a:r>
            <a:endParaRPr lang="en-US" sz="520" dirty="0"/>
          </a:p>
          <a:p>
            <a:pPr marL="0" indent="0">
              <a:buNone/>
            </a:pPr>
            <a:r>
              <a:rPr lang="en-US" sz="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interpretabilidad</a:t>
            </a:r>
            <a:endParaRPr lang="en-US" sz="520" dirty="0"/>
          </a:p>
        </p:txBody>
      </p:sp>
      <p:sp>
        <p:nvSpPr>
          <p:cNvPr id="196" name="Shape 194"/>
          <p:cNvSpPr/>
          <p:nvPr/>
        </p:nvSpPr>
        <p:spPr>
          <a:xfrm>
            <a:off x="8759952" y="4462272"/>
            <a:ext cx="219456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>
            <a:off x="9006840" y="39776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F5D99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198" name="Shape 196"/>
          <p:cNvSpPr/>
          <p:nvPr/>
        </p:nvSpPr>
        <p:spPr>
          <a:xfrm>
            <a:off x="9061704" y="4041648"/>
            <a:ext cx="237744" cy="237744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9061704" y="40690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40" dirty="0"/>
          </a:p>
        </p:txBody>
      </p:sp>
      <p:sp>
        <p:nvSpPr>
          <p:cNvPr id="200" name="Text 198"/>
          <p:cNvSpPr/>
          <p:nvPr/>
        </p:nvSpPr>
        <p:spPr>
          <a:xfrm>
            <a:off x="9326880" y="4050792"/>
            <a:ext cx="2560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 y activación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negocio</a:t>
            </a:r>
            <a:endParaRPr lang="en-US" sz="720" dirty="0"/>
          </a:p>
        </p:txBody>
      </p:sp>
      <p:sp>
        <p:nvSpPr>
          <p:cNvPr id="201" name="Shape 199"/>
          <p:cNvSpPr/>
          <p:nvPr/>
        </p:nvSpPr>
        <p:spPr>
          <a:xfrm rot="5400000">
            <a:off x="9208008" y="4480560"/>
            <a:ext cx="301752" cy="237744"/>
          </a:xfrm>
          <a:prstGeom prst="triangle">
            <a:avLst/>
          </a:prstGeom>
          <a:solidFill>
            <a:srgbClr val="1F5D99"/>
          </a:solidFill>
          <a:ln w="10160">
            <a:solidFill>
              <a:srgbClr val="0B2C5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153144" y="4572000"/>
            <a:ext cx="109728" cy="7315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4535424"/>
            <a:ext cx="137160" cy="0"/>
          </a:xfrm>
          <a:prstGeom prst="line">
            <a:avLst/>
          </a:prstGeom>
          <a:noFill/>
          <a:ln w="1524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04" name="Text 202"/>
          <p:cNvSpPr/>
          <p:nvPr/>
        </p:nvSpPr>
        <p:spPr>
          <a:xfrm>
            <a:off x="10047224" y="4311396"/>
            <a:ext cx="1119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1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 segmentos finales</a:t>
            </a:r>
            <a:endParaRPr lang="en-US" sz="515" dirty="0"/>
          </a:p>
          <a:p>
            <a:pPr marL="0" indent="0">
              <a:buNone/>
            </a:pPr>
            <a:r>
              <a:rPr lang="en-US" sz="51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Denominación de perfiles</a:t>
            </a:r>
            <a:endParaRPr lang="en-US" sz="515" dirty="0"/>
          </a:p>
          <a:p>
            <a:pPr marL="0" indent="0">
              <a:buNone/>
            </a:pPr>
            <a:r>
              <a:rPr lang="en-US" sz="51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Playbook de marketing y KPIs</a:t>
            </a:r>
            <a:endParaRPr lang="en-US" sz="515" dirty="0"/>
          </a:p>
          <a:p>
            <a:pPr marL="0" indent="0">
              <a:buNone/>
            </a:pPr>
            <a:r>
              <a:rPr lang="en-US" sz="51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Activación, fidelización, cross-sell</a:t>
            </a:r>
            <a:endParaRPr lang="en-US" sz="515" dirty="0"/>
          </a:p>
          <a:p>
            <a:pPr marL="0" indent="0">
              <a:buNone/>
            </a:pPr>
            <a:r>
              <a:rPr lang="en-US" sz="515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y personalización</a:t>
            </a:r>
            <a:endParaRPr lang="en-US" sz="515" dirty="0"/>
          </a:p>
        </p:txBody>
      </p:sp>
      <p:sp>
        <p:nvSpPr>
          <p:cNvPr id="205" name="Shape 203"/>
          <p:cNvSpPr/>
          <p:nvPr/>
        </p:nvSpPr>
        <p:spPr>
          <a:xfrm>
            <a:off x="3849624" y="3822192"/>
            <a:ext cx="0" cy="155448"/>
          </a:xfrm>
          <a:prstGeom prst="line">
            <a:avLst/>
          </a:prstGeom>
          <a:noFill/>
          <a:ln w="1397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182880" y="5102352"/>
            <a:ext cx="11795760" cy="969264"/>
          </a:xfrm>
          <a:prstGeom prst="roundRect">
            <a:avLst>
              <a:gd name="adj" fmla="val 7547"/>
            </a:avLst>
          </a:prstGeom>
          <a:solidFill>
            <a:srgbClr val="F8FBFF"/>
          </a:solidFill>
          <a:ln w="15240">
            <a:solidFill>
              <a:srgbClr val="00897B"/>
            </a:solidFill>
            <a:prstDash val="solid"/>
          </a:ln>
          <a:effectLst>
            <a:outerShdw blurRad="19050" dist="50800" dir="2700000" algn="bl" rotWithShape="0">
              <a:srgbClr val="A7B7CB">
                <a:alpha val="20000"/>
              </a:srgbClr>
            </a:outerShdw>
          </a:effectLst>
        </p:spPr>
      </p:sp>
      <p:sp>
        <p:nvSpPr>
          <p:cNvPr id="207" name="Shape 205"/>
          <p:cNvSpPr/>
          <p:nvPr/>
        </p:nvSpPr>
        <p:spPr>
          <a:xfrm>
            <a:off x="320040" y="5193792"/>
            <a:ext cx="256032" cy="256032"/>
          </a:xfrm>
          <a:prstGeom prst="ellips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20040" y="523494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640080" y="517550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operativo de asignación de nuevos clientes</a:t>
            </a:r>
            <a:endParaRPr lang="en-US" sz="860" dirty="0"/>
          </a:p>
        </p:txBody>
      </p:sp>
      <p:sp>
        <p:nvSpPr>
          <p:cNvPr id="210" name="Text 208"/>
          <p:cNvSpPr/>
          <p:nvPr/>
        </p:nvSpPr>
        <p:spPr>
          <a:xfrm>
            <a:off x="5468112" y="5184648"/>
            <a:ext cx="6172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i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aplica el pipeline persistido y no fuerza una asignación cuando el historial es insuficiente.</a:t>
            </a:r>
            <a:endParaRPr lang="en-US" sz="580" dirty="0"/>
          </a:p>
        </p:txBody>
      </p:sp>
      <p:sp>
        <p:nvSpPr>
          <p:cNvPr id="211" name="Shape 209"/>
          <p:cNvSpPr/>
          <p:nvPr/>
        </p:nvSpPr>
        <p:spPr>
          <a:xfrm>
            <a:off x="384048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20624" y="5486400"/>
            <a:ext cx="164592" cy="164592"/>
          </a:xfrm>
          <a:prstGeom prst="ellipse">
            <a:avLst/>
          </a:prstGeom>
          <a:solidFill>
            <a:srgbClr val="1F5D99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20624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40" dirty="0"/>
          </a:p>
        </p:txBody>
      </p:sp>
      <p:sp>
        <p:nvSpPr>
          <p:cNvPr id="214" name="Text 212"/>
          <p:cNvSpPr/>
          <p:nvPr/>
        </p:nvSpPr>
        <p:spPr>
          <a:xfrm>
            <a:off x="612648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 CSV o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manual</a:t>
            </a:r>
            <a:endParaRPr lang="en-US" sz="520" dirty="0"/>
          </a:p>
        </p:txBody>
      </p:sp>
      <p:sp>
        <p:nvSpPr>
          <p:cNvPr id="215" name="Shape 213"/>
          <p:cNvSpPr/>
          <p:nvPr/>
        </p:nvSpPr>
        <p:spPr>
          <a:xfrm>
            <a:off x="1709928" y="5632704"/>
            <a:ext cx="109728" cy="0"/>
          </a:xfrm>
          <a:prstGeom prst="line">
            <a:avLst/>
          </a:prstGeom>
          <a:noFill/>
          <a:ln w="1270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216" name="Shape 214"/>
          <p:cNvSpPr/>
          <p:nvPr/>
        </p:nvSpPr>
        <p:spPr>
          <a:xfrm>
            <a:off x="1856232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892808" y="5486400"/>
            <a:ext cx="164592" cy="164592"/>
          </a:xfrm>
          <a:prstGeom prst="ellipse">
            <a:avLst/>
          </a:prstGeom>
          <a:solidFill>
            <a:srgbClr val="1F5D99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892808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40" dirty="0"/>
          </a:p>
        </p:txBody>
      </p:sp>
      <p:sp>
        <p:nvSpPr>
          <p:cNvPr id="219" name="Text 217"/>
          <p:cNvSpPr/>
          <p:nvPr/>
        </p:nvSpPr>
        <p:spPr>
          <a:xfrm>
            <a:off x="2084832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esquema</a:t>
            </a:r>
            <a:endParaRPr lang="en-US" sz="520" dirty="0"/>
          </a:p>
        </p:txBody>
      </p:sp>
      <p:sp>
        <p:nvSpPr>
          <p:cNvPr id="220" name="Shape 218"/>
          <p:cNvSpPr/>
          <p:nvPr/>
        </p:nvSpPr>
        <p:spPr>
          <a:xfrm>
            <a:off x="3182112" y="5632704"/>
            <a:ext cx="109728" cy="0"/>
          </a:xfrm>
          <a:prstGeom prst="line">
            <a:avLst/>
          </a:prstGeom>
          <a:noFill/>
          <a:ln w="1270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3328416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364992" y="5486400"/>
            <a:ext cx="164592" cy="164592"/>
          </a:xfrm>
          <a:prstGeom prst="ellipse">
            <a:avLst/>
          </a:prstGeom>
          <a:solidFill>
            <a:srgbClr val="1F5D99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3364992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40" dirty="0"/>
          </a:p>
        </p:txBody>
      </p:sp>
      <p:sp>
        <p:nvSpPr>
          <p:cNvPr id="224" name="Text 222"/>
          <p:cNvSpPr/>
          <p:nvPr/>
        </p:nvSpPr>
        <p:spPr>
          <a:xfrm>
            <a:off x="3557016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Agregación a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cliente</a:t>
            </a:r>
            <a:endParaRPr lang="en-US" sz="520" dirty="0"/>
          </a:p>
        </p:txBody>
      </p:sp>
      <p:sp>
        <p:nvSpPr>
          <p:cNvPr id="225" name="Shape 223"/>
          <p:cNvSpPr/>
          <p:nvPr/>
        </p:nvSpPr>
        <p:spPr>
          <a:xfrm>
            <a:off x="4654296" y="5632704"/>
            <a:ext cx="109728" cy="0"/>
          </a:xfrm>
          <a:prstGeom prst="line">
            <a:avLst/>
          </a:prstGeom>
          <a:noFill/>
          <a:ln w="1270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226" name="Shape 224"/>
          <p:cNvSpPr/>
          <p:nvPr/>
        </p:nvSpPr>
        <p:spPr>
          <a:xfrm>
            <a:off x="4800600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837176" y="54864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837176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40" dirty="0"/>
          </a:p>
        </p:txBody>
      </p:sp>
      <p:sp>
        <p:nvSpPr>
          <p:cNvPr id="229" name="Text 227"/>
          <p:cNvSpPr/>
          <p:nvPr/>
        </p:nvSpPr>
        <p:spPr>
          <a:xfrm>
            <a:off x="5029200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elegibilidad</a:t>
            </a:r>
            <a:endParaRPr lang="en-US" sz="520" dirty="0"/>
          </a:p>
        </p:txBody>
      </p:sp>
      <p:sp>
        <p:nvSpPr>
          <p:cNvPr id="230" name="Shape 228"/>
          <p:cNvSpPr/>
          <p:nvPr/>
        </p:nvSpPr>
        <p:spPr>
          <a:xfrm>
            <a:off x="6126480" y="5632704"/>
            <a:ext cx="109728" cy="0"/>
          </a:xfrm>
          <a:prstGeom prst="line">
            <a:avLst/>
          </a:prstGeom>
          <a:noFill/>
          <a:ln w="1270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231" name="Shape 229"/>
          <p:cNvSpPr/>
          <p:nvPr/>
        </p:nvSpPr>
        <p:spPr>
          <a:xfrm>
            <a:off x="6272784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309360" y="54864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309360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40" dirty="0"/>
          </a:p>
        </p:txBody>
      </p:sp>
      <p:sp>
        <p:nvSpPr>
          <p:cNvPr id="234" name="Text 232"/>
          <p:cNvSpPr/>
          <p:nvPr/>
        </p:nvSpPr>
        <p:spPr>
          <a:xfrm>
            <a:off x="6501384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persistido</a:t>
            </a:r>
            <a:endParaRPr lang="en-US" sz="520" dirty="0"/>
          </a:p>
        </p:txBody>
      </p:sp>
      <p:sp>
        <p:nvSpPr>
          <p:cNvPr id="235" name="Shape 233"/>
          <p:cNvSpPr/>
          <p:nvPr/>
        </p:nvSpPr>
        <p:spPr>
          <a:xfrm>
            <a:off x="7598664" y="5632704"/>
            <a:ext cx="109728" cy="0"/>
          </a:xfrm>
          <a:prstGeom prst="line">
            <a:avLst/>
          </a:prstGeom>
          <a:noFill/>
          <a:ln w="1270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236" name="Shape 234"/>
          <p:cNvSpPr/>
          <p:nvPr/>
        </p:nvSpPr>
        <p:spPr>
          <a:xfrm>
            <a:off x="7744968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781544" y="5486400"/>
            <a:ext cx="164592" cy="164592"/>
          </a:xfrm>
          <a:prstGeom prst="ellipse">
            <a:avLst/>
          </a:prstGeom>
          <a:solidFill>
            <a:srgbClr val="9D7415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7781544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540" dirty="0"/>
          </a:p>
        </p:txBody>
      </p:sp>
      <p:sp>
        <p:nvSpPr>
          <p:cNvPr id="239" name="Text 237"/>
          <p:cNvSpPr/>
          <p:nvPr/>
        </p:nvSpPr>
        <p:spPr>
          <a:xfrm>
            <a:off x="7973568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Centroide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cercano</a:t>
            </a:r>
            <a:endParaRPr lang="en-US" sz="520" dirty="0"/>
          </a:p>
        </p:txBody>
      </p:sp>
      <p:sp>
        <p:nvSpPr>
          <p:cNvPr id="240" name="Shape 238"/>
          <p:cNvSpPr/>
          <p:nvPr/>
        </p:nvSpPr>
        <p:spPr>
          <a:xfrm>
            <a:off x="9070848" y="5632704"/>
            <a:ext cx="109728" cy="0"/>
          </a:xfrm>
          <a:prstGeom prst="line">
            <a:avLst/>
          </a:prstGeom>
          <a:noFill/>
          <a:ln w="1270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241" name="Shape 239"/>
          <p:cNvSpPr/>
          <p:nvPr/>
        </p:nvSpPr>
        <p:spPr>
          <a:xfrm>
            <a:off x="9217152" y="5422392"/>
            <a:ext cx="1307592" cy="420624"/>
          </a:xfrm>
          <a:prstGeom prst="roundRect">
            <a:avLst>
              <a:gd name="adj" fmla="val 10870"/>
            </a:avLst>
          </a:prstGeom>
          <a:solidFill>
            <a:srgbClr val="FFF4DA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253728" y="5486400"/>
            <a:ext cx="164592" cy="164592"/>
          </a:xfrm>
          <a:prstGeom prst="ellipse">
            <a:avLst/>
          </a:prstGeom>
          <a:solidFill>
            <a:srgbClr val="9D7415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9253728" y="55092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40" dirty="0"/>
          </a:p>
        </p:txBody>
      </p:sp>
      <p:sp>
        <p:nvSpPr>
          <p:cNvPr id="244" name="Text 242"/>
          <p:cNvSpPr/>
          <p:nvPr/>
        </p:nvSpPr>
        <p:spPr>
          <a:xfrm>
            <a:off x="9445752" y="5477256"/>
            <a:ext cx="1051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 +</a:t>
            </a:r>
            <a:endParaRPr lang="en-US" sz="520" dirty="0"/>
          </a:p>
          <a:p>
            <a:pPr marL="0" indent="0">
              <a:buNone/>
            </a:pPr>
            <a:r>
              <a:rPr lang="en-US" sz="5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+ KPI</a:t>
            </a:r>
            <a:endParaRPr lang="en-US" sz="520" dirty="0"/>
          </a:p>
        </p:txBody>
      </p:sp>
      <p:sp>
        <p:nvSpPr>
          <p:cNvPr id="245" name="Shape 243"/>
          <p:cNvSpPr/>
          <p:nvPr/>
        </p:nvSpPr>
        <p:spPr>
          <a:xfrm>
            <a:off x="5454396" y="5861304"/>
            <a:ext cx="841248" cy="192024"/>
          </a:xfrm>
          <a:prstGeom prst="line">
            <a:avLst/>
          </a:prstGeom>
          <a:noFill/>
          <a:ln w="12700">
            <a:solidFill>
              <a:srgbClr val="B23A3A"/>
            </a:solidFill>
            <a:prstDash val="solid"/>
            <a:tailEnd type="triangle"/>
          </a:ln>
        </p:spPr>
      </p:sp>
      <p:sp>
        <p:nvSpPr>
          <p:cNvPr id="246" name="Shape 244"/>
          <p:cNvSpPr/>
          <p:nvPr/>
        </p:nvSpPr>
        <p:spPr>
          <a:xfrm>
            <a:off x="6080760" y="5879592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FDEAEA"/>
          </a:solidFill>
          <a:ln w="11430">
            <a:solidFill>
              <a:srgbClr val="B23A3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126480" y="5943600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B2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insuficiente → no se asigna segmento</a:t>
            </a:r>
            <a:endParaRPr lang="en-US" sz="480" dirty="0"/>
          </a:p>
        </p:txBody>
      </p:sp>
      <p:sp>
        <p:nvSpPr>
          <p:cNvPr id="248" name="Shape 246"/>
          <p:cNvSpPr/>
          <p:nvPr/>
        </p:nvSpPr>
        <p:spPr>
          <a:xfrm>
            <a:off x="10332720" y="4937760"/>
            <a:ext cx="0" cy="164592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49" name="Shape 247"/>
          <p:cNvSpPr/>
          <p:nvPr/>
        </p:nvSpPr>
        <p:spPr>
          <a:xfrm>
            <a:off x="182880" y="6309360"/>
            <a:ext cx="9326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970">
            <a:solidFill>
              <a:srgbClr val="0B2C5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10896" y="6391656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310896" y="64236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8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20" dirty="0"/>
          </a:p>
        </p:txBody>
      </p:sp>
      <p:sp>
        <p:nvSpPr>
          <p:cNvPr id="252" name="Text 250"/>
          <p:cNvSpPr/>
          <p:nvPr/>
        </p:nvSpPr>
        <p:spPr>
          <a:xfrm>
            <a:off x="585216" y="641908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interpretables</a:t>
            </a:r>
            <a:endParaRPr lang="en-US" sz="620" dirty="0"/>
          </a:p>
        </p:txBody>
      </p:sp>
      <p:sp>
        <p:nvSpPr>
          <p:cNvPr id="253" name="Shape 251"/>
          <p:cNvSpPr/>
          <p:nvPr/>
        </p:nvSpPr>
        <p:spPr>
          <a:xfrm>
            <a:off x="1892808" y="6382512"/>
            <a:ext cx="0" cy="237744"/>
          </a:xfrm>
          <a:prstGeom prst="line">
            <a:avLst/>
          </a:prstGeom>
          <a:noFill/>
          <a:ln w="10160">
            <a:solidFill>
              <a:srgbClr val="5A769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011680" y="6391656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5D99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2011680" y="64236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F5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720" dirty="0"/>
          </a:p>
        </p:txBody>
      </p:sp>
      <p:sp>
        <p:nvSpPr>
          <p:cNvPr id="256" name="Text 254"/>
          <p:cNvSpPr/>
          <p:nvPr/>
        </p:nvSpPr>
        <p:spPr>
          <a:xfrm>
            <a:off x="2286000" y="641908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accionables</a:t>
            </a:r>
            <a:endParaRPr lang="en-US" sz="620" dirty="0"/>
          </a:p>
        </p:txBody>
      </p:sp>
      <p:sp>
        <p:nvSpPr>
          <p:cNvPr id="257" name="Shape 255"/>
          <p:cNvSpPr/>
          <p:nvPr/>
        </p:nvSpPr>
        <p:spPr>
          <a:xfrm>
            <a:off x="3593592" y="6382512"/>
            <a:ext cx="0" cy="237744"/>
          </a:xfrm>
          <a:prstGeom prst="line">
            <a:avLst/>
          </a:prstGeom>
          <a:noFill/>
          <a:ln w="10160">
            <a:solidFill>
              <a:srgbClr val="5A769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712464" y="6391656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2C5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3712464" y="64236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720" dirty="0"/>
          </a:p>
        </p:txBody>
      </p:sp>
      <p:sp>
        <p:nvSpPr>
          <p:cNvPr id="260" name="Text 258"/>
          <p:cNvSpPr/>
          <p:nvPr/>
        </p:nvSpPr>
        <p:spPr>
          <a:xfrm>
            <a:off x="3986784" y="641908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 reproducible</a:t>
            </a:r>
            <a:endParaRPr lang="en-US" sz="620" dirty="0"/>
          </a:p>
        </p:txBody>
      </p:sp>
      <p:sp>
        <p:nvSpPr>
          <p:cNvPr id="261" name="Shape 259"/>
          <p:cNvSpPr/>
          <p:nvPr/>
        </p:nvSpPr>
        <p:spPr>
          <a:xfrm>
            <a:off x="5294376" y="6382512"/>
            <a:ext cx="0" cy="237744"/>
          </a:xfrm>
          <a:prstGeom prst="line">
            <a:avLst/>
          </a:prstGeom>
          <a:noFill/>
          <a:ln w="10160">
            <a:solidFill>
              <a:srgbClr val="5A769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413248" y="6391656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5413248" y="64236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8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20" dirty="0"/>
          </a:p>
        </p:txBody>
      </p:sp>
      <p:sp>
        <p:nvSpPr>
          <p:cNvPr id="264" name="Text 262"/>
          <p:cNvSpPr/>
          <p:nvPr/>
        </p:nvSpPr>
        <p:spPr>
          <a:xfrm>
            <a:off x="5687568" y="641908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responsable de datos</a:t>
            </a:r>
            <a:endParaRPr lang="en-US" sz="620" dirty="0"/>
          </a:p>
        </p:txBody>
      </p:sp>
      <p:sp>
        <p:nvSpPr>
          <p:cNvPr id="265" name="Shape 263"/>
          <p:cNvSpPr/>
          <p:nvPr/>
        </p:nvSpPr>
        <p:spPr>
          <a:xfrm>
            <a:off x="6995160" y="6382512"/>
            <a:ext cx="0" cy="237744"/>
          </a:xfrm>
          <a:prstGeom prst="line">
            <a:avLst/>
          </a:prstGeom>
          <a:noFill/>
          <a:ln w="10160">
            <a:solidFill>
              <a:srgbClr val="5A769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114032" y="6391656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D7415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7114032" y="64236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9D74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530" dirty="0"/>
          </a:p>
        </p:txBody>
      </p:sp>
      <p:sp>
        <p:nvSpPr>
          <p:cNvPr id="268" name="Text 266"/>
          <p:cNvSpPr/>
          <p:nvPr/>
        </p:nvSpPr>
        <p:spPr>
          <a:xfrm>
            <a:off x="7388352" y="641908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Asignación operativa de nuevos clientes</a:t>
            </a:r>
            <a:endParaRPr lang="en-US" sz="620" dirty="0"/>
          </a:p>
        </p:txBody>
      </p:sp>
      <p:sp>
        <p:nvSpPr>
          <p:cNvPr id="269" name="Shape 267"/>
          <p:cNvSpPr/>
          <p:nvPr/>
        </p:nvSpPr>
        <p:spPr>
          <a:xfrm>
            <a:off x="9646920" y="617220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4DA"/>
          </a:solidFill>
          <a:ln w="17780">
            <a:solidFill>
              <a:srgbClr val="C9972E"/>
            </a:solidFill>
            <a:prstDash val="solid"/>
          </a:ln>
          <a:effectLst>
            <a:outerShdw blurRad="25400" dist="50800" dir="2700000" algn="bl" rotWithShape="0">
              <a:srgbClr val="C8A65A">
                <a:alpha val="25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9784080" y="6309360"/>
            <a:ext cx="256032" cy="256032"/>
          </a:xfrm>
          <a:prstGeom prst="ellipse">
            <a:avLst/>
          </a:prstGeom>
          <a:solidFill>
            <a:srgbClr val="0B2C5F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9784080" y="63413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9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10104120" y="6254496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i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final:</a:t>
            </a:r>
            <a:endParaRPr lang="en-US" sz="880" dirty="0"/>
          </a:p>
        </p:txBody>
      </p:sp>
      <p:sp>
        <p:nvSpPr>
          <p:cNvPr id="273" name="Text 271"/>
          <p:cNvSpPr/>
          <p:nvPr/>
        </p:nvSpPr>
        <p:spPr>
          <a:xfrm>
            <a:off x="10104120" y="6428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i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robusta, estable,</a:t>
            </a:r>
            <a:endParaRPr lang="en-US" sz="640" dirty="0"/>
          </a:p>
          <a:p>
            <a:pPr marL="0" indent="0">
              <a:buNone/>
            </a:pPr>
            <a:r>
              <a:rPr lang="en-US" sz="640" i="1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y operacionalizada.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0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62488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62488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62488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62488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72216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72216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72216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72216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72216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72216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81944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81944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81944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81944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91672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91672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91672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91672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91672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91672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01400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01400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01400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01400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01400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11128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11128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11128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311128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11128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311128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20856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20856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20856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20856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20856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20856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530584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530584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30584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530584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30584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0584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0312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640312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640312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640312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0312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640312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750040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50040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750040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750040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50040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750040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59768" y="16459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859768" y="274320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859768" y="384048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859768" y="493776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59768" y="603504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859768" y="713232"/>
            <a:ext cx="13716" cy="13716"/>
          </a:xfrm>
          <a:prstGeom prst="ellipse">
            <a:avLst/>
          </a:prstGeom>
          <a:solidFill>
            <a:srgbClr val="D7E4F5">
              <a:alpha val="65000"/>
            </a:srgbClr>
          </a:solidFill>
          <a:ln w="12700">
            <a:solidFill>
              <a:srgbClr val="D7E4F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4048" y="100584"/>
            <a:ext cx="320040" cy="146304"/>
          </a:xfrm>
          <a:prstGeom prst="triangle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246888"/>
            <a:ext cx="457200" cy="54864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76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0080" y="310896"/>
            <a:ext cx="50292" cy="25603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0040" y="576072"/>
            <a:ext cx="457200" cy="50292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64008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74320" y="7680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99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 ★ ★ ★ ★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1292840" y="73152"/>
            <a:ext cx="502920" cy="566928"/>
          </a:xfrm>
          <a:prstGeom prst="pentagon">
            <a:avLst/>
          </a:prstGeom>
          <a:solidFill>
            <a:srgbClr val="0B2C5F"/>
          </a:solidFill>
          <a:ln w="25400">
            <a:solidFill>
              <a:srgbClr val="C9972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430000" y="402336"/>
            <a:ext cx="50292" cy="118872"/>
          </a:xfrm>
          <a:prstGeom prst="rect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512296" y="320040"/>
            <a:ext cx="50292" cy="201168"/>
          </a:xfrm>
          <a:prstGeom prst="rect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594592" y="246888"/>
            <a:ext cx="50292" cy="274320"/>
          </a:xfrm>
          <a:prstGeom prst="rect">
            <a:avLst/>
          </a:prstGeom>
          <a:solidFill>
            <a:srgbClr val="C9972E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11712" y="274320"/>
            <a:ext cx="274320" cy="0"/>
          </a:xfrm>
          <a:prstGeom prst="line">
            <a:avLst/>
          </a:prstGeom>
          <a:noFill/>
          <a:ln w="20320">
            <a:solidFill>
              <a:srgbClr val="C9972E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1143000" y="2286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C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Zoom del prototipo operativo de asignación de nuevos clientes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1280160" y="57607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historial transaccional a una recomendación comercial accionable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1148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5D99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484632" y="1225296"/>
            <a:ext cx="256032" cy="256032"/>
          </a:xfrm>
          <a:prstGeom prst="ellipse">
            <a:avLst/>
          </a:prstGeom>
          <a:solidFill>
            <a:srgbClr val="1F5D99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4632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21208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 CSV o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manual</a:t>
            </a:r>
            <a:endParaRPr lang="en-US" sz="730" dirty="0"/>
          </a:p>
        </p:txBody>
      </p:sp>
      <p:sp>
        <p:nvSpPr>
          <p:cNvPr id="94" name="Text 92"/>
          <p:cNvSpPr/>
          <p:nvPr/>
        </p:nvSpPr>
        <p:spPr>
          <a:xfrm>
            <a:off x="521208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 de uno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varios clientes</a:t>
            </a:r>
            <a:endParaRPr lang="en-US" sz="530" dirty="0"/>
          </a:p>
        </p:txBody>
      </p:sp>
      <p:sp>
        <p:nvSpPr>
          <p:cNvPr id="95" name="Shape 93"/>
          <p:cNvSpPr/>
          <p:nvPr/>
        </p:nvSpPr>
        <p:spPr>
          <a:xfrm>
            <a:off x="1865376" y="1600200"/>
            <a:ext cx="146304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2084832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5D99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157984" y="1225296"/>
            <a:ext cx="256032" cy="256032"/>
          </a:xfrm>
          <a:prstGeom prst="ellipse">
            <a:avLst/>
          </a:prstGeom>
          <a:solidFill>
            <a:srgbClr val="1F5D99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57984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2194560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esquema</a:t>
            </a:r>
            <a:endParaRPr lang="en-US" sz="730" dirty="0"/>
          </a:p>
        </p:txBody>
      </p:sp>
      <p:sp>
        <p:nvSpPr>
          <p:cNvPr id="100" name="Text 98"/>
          <p:cNvSpPr/>
          <p:nvPr/>
        </p:nvSpPr>
        <p:spPr>
          <a:xfrm>
            <a:off x="2194560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requeridas: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cc_num, fecha, amt,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category, merchant</a:t>
            </a:r>
            <a:endParaRPr lang="en-US" sz="530" dirty="0"/>
          </a:p>
        </p:txBody>
      </p:sp>
      <p:sp>
        <p:nvSpPr>
          <p:cNvPr id="101" name="Shape 99"/>
          <p:cNvSpPr/>
          <p:nvPr/>
        </p:nvSpPr>
        <p:spPr>
          <a:xfrm>
            <a:off x="3538728" y="1600200"/>
            <a:ext cx="146304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3758184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5D99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3831336" y="1225296"/>
            <a:ext cx="256032" cy="256032"/>
          </a:xfrm>
          <a:prstGeom prst="ellipse">
            <a:avLst/>
          </a:prstGeom>
          <a:solidFill>
            <a:srgbClr val="1F5D99"/>
          </a:solidFill>
          <a:ln w="12700">
            <a:solidFill>
              <a:srgbClr val="1F5D9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31336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867912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Agregación a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cliente</a:t>
            </a:r>
            <a:endParaRPr lang="en-US" sz="730" dirty="0"/>
          </a:p>
        </p:txBody>
      </p:sp>
      <p:sp>
        <p:nvSpPr>
          <p:cNvPr id="106" name="Text 104"/>
          <p:cNvSpPr/>
          <p:nvPr/>
        </p:nvSpPr>
        <p:spPr>
          <a:xfrm>
            <a:off x="3867912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Frecuencia, recencia,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gasto, ticket, diversidad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temporalidad</a:t>
            </a:r>
            <a:endParaRPr lang="en-US" sz="530" dirty="0"/>
          </a:p>
        </p:txBody>
      </p:sp>
      <p:sp>
        <p:nvSpPr>
          <p:cNvPr id="107" name="Shape 105"/>
          <p:cNvSpPr/>
          <p:nvPr/>
        </p:nvSpPr>
        <p:spPr>
          <a:xfrm>
            <a:off x="5212080" y="1600200"/>
            <a:ext cx="146304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5431536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5504688" y="122529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504688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541264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elegibilidad</a:t>
            </a:r>
            <a:endParaRPr lang="en-US" sz="730" dirty="0"/>
          </a:p>
        </p:txBody>
      </p:sp>
      <p:sp>
        <p:nvSpPr>
          <p:cNvPr id="112" name="Text 110"/>
          <p:cNvSpPr/>
          <p:nvPr/>
        </p:nvSpPr>
        <p:spPr>
          <a:xfrm>
            <a:off x="5541264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30 transacciones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≥ 30 días observados</a:t>
            </a:r>
            <a:endParaRPr lang="en-US" sz="530" dirty="0"/>
          </a:p>
        </p:txBody>
      </p:sp>
      <p:sp>
        <p:nvSpPr>
          <p:cNvPr id="113" name="Shape 111"/>
          <p:cNvSpPr/>
          <p:nvPr/>
        </p:nvSpPr>
        <p:spPr>
          <a:xfrm>
            <a:off x="6885432" y="1600200"/>
            <a:ext cx="146304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7104888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178040" y="122529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78040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214616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persistido</a:t>
            </a:r>
            <a:endParaRPr lang="en-US" sz="730" dirty="0"/>
          </a:p>
        </p:txBody>
      </p:sp>
      <p:sp>
        <p:nvSpPr>
          <p:cNvPr id="118" name="Text 116"/>
          <p:cNvSpPr/>
          <p:nvPr/>
        </p:nvSpPr>
        <p:spPr>
          <a:xfrm>
            <a:off x="7214616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Winsorización, log1p,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variables y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escalado ya aprendidos</a:t>
            </a:r>
            <a:endParaRPr lang="en-US" sz="530" dirty="0"/>
          </a:p>
        </p:txBody>
      </p:sp>
      <p:sp>
        <p:nvSpPr>
          <p:cNvPr id="119" name="Shape 117"/>
          <p:cNvSpPr/>
          <p:nvPr/>
        </p:nvSpPr>
        <p:spPr>
          <a:xfrm>
            <a:off x="8558784" y="1600200"/>
            <a:ext cx="146304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877824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4DA"/>
          </a:solidFill>
          <a:ln w="15240">
            <a:solidFill>
              <a:srgbClr val="9D7415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8851392" y="1225296"/>
            <a:ext cx="256032" cy="256032"/>
          </a:xfrm>
          <a:prstGeom prst="ellipse">
            <a:avLst/>
          </a:prstGeom>
          <a:solidFill>
            <a:srgbClr val="9D7415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851392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8887968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Centroide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cercano</a:t>
            </a:r>
            <a:endParaRPr lang="en-US" sz="730" dirty="0"/>
          </a:p>
        </p:txBody>
      </p:sp>
      <p:sp>
        <p:nvSpPr>
          <p:cNvPr id="124" name="Text 122"/>
          <p:cNvSpPr/>
          <p:nvPr/>
        </p:nvSpPr>
        <p:spPr>
          <a:xfrm>
            <a:off x="8887968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asigna al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de menor distancia</a:t>
            </a:r>
            <a:endParaRPr lang="en-US" sz="530" dirty="0"/>
          </a:p>
        </p:txBody>
      </p:sp>
      <p:sp>
        <p:nvSpPr>
          <p:cNvPr id="125" name="Shape 123"/>
          <p:cNvSpPr/>
          <p:nvPr/>
        </p:nvSpPr>
        <p:spPr>
          <a:xfrm>
            <a:off x="10232136" y="1600200"/>
            <a:ext cx="146304" cy="0"/>
          </a:xfrm>
          <a:prstGeom prst="line">
            <a:avLst/>
          </a:prstGeom>
          <a:noFill/>
          <a:ln w="15240">
            <a:solidFill>
              <a:srgbClr val="0B2C5F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0451592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4DA"/>
          </a:solidFill>
          <a:ln w="15240">
            <a:solidFill>
              <a:srgbClr val="9D7415"/>
            </a:solidFill>
            <a:prstDash val="solid"/>
          </a:ln>
          <a:effectLst>
            <a:outerShdw blurRad="25400" dist="50800" dir="2700000" algn="bl" rotWithShape="0">
              <a:srgbClr val="A7B7CB">
                <a:alpha val="18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0524744" y="1225296"/>
            <a:ext cx="256032" cy="256032"/>
          </a:xfrm>
          <a:prstGeom prst="ellipse">
            <a:avLst/>
          </a:prstGeom>
          <a:solidFill>
            <a:srgbClr val="9D7415"/>
          </a:solidFill>
          <a:ln w="12700">
            <a:solidFill>
              <a:srgbClr val="9D741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524744" y="12664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10561320" y="1527048"/>
            <a:ext cx="11978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30" dirty="0"/>
          </a:p>
          <a:p>
            <a:pPr marL="0" indent="0" algn="ctr">
              <a:buNone/>
            </a:pPr>
            <a:r>
              <a:rPr lang="en-US" sz="73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comercial</a:t>
            </a:r>
            <a:endParaRPr lang="en-US" sz="730" dirty="0"/>
          </a:p>
        </p:txBody>
      </p:sp>
      <p:sp>
        <p:nvSpPr>
          <p:cNvPr id="130" name="Text 128"/>
          <p:cNvSpPr/>
          <p:nvPr/>
        </p:nvSpPr>
        <p:spPr>
          <a:xfrm>
            <a:off x="10561320" y="1783080"/>
            <a:ext cx="11978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Segmento, explicación,</a:t>
            </a:r>
            <a:endParaRPr lang="en-US" sz="530" dirty="0"/>
          </a:p>
          <a:p>
            <a:pPr marL="0" indent="0" algn="ctr">
              <a:buNone/>
            </a:pPr>
            <a:r>
              <a:rPr lang="en-US" sz="53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recomendada y KPI</a:t>
            </a:r>
            <a:endParaRPr lang="en-US" sz="530" dirty="0"/>
          </a:p>
        </p:txBody>
      </p:sp>
      <p:sp>
        <p:nvSpPr>
          <p:cNvPr id="131" name="Shape 129"/>
          <p:cNvSpPr/>
          <p:nvPr/>
        </p:nvSpPr>
        <p:spPr>
          <a:xfrm>
            <a:off x="1874520" y="2788920"/>
            <a:ext cx="3977640" cy="114300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7780">
            <a:solidFill>
              <a:srgbClr val="00897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103120" y="2926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elegible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21031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supera los umbrales mínimos. Se aplica el pipeline persistido y se asigna al centroide más cercano. La salida incluye el nombre del segmento, patrón dominante, acción recomendada y KPI.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6355080" y="2788920"/>
            <a:ext cx="3977640" cy="1143000"/>
          </a:xfrm>
          <a:prstGeom prst="roundRect">
            <a:avLst>
              <a:gd name="adj" fmla="val 8000"/>
            </a:avLst>
          </a:prstGeom>
          <a:solidFill>
            <a:srgbClr val="FDEAEA"/>
          </a:solidFill>
          <a:ln w="17780">
            <a:solidFill>
              <a:srgbClr val="B23A3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583680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no elegible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65836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cliente no cumple 30 transacciones y 30 días observados, la aplicación devuelve “Historial insuficiente”. No se fuerza la asignación para evitar una clasificación poco robusta.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5897880" y="2103120"/>
            <a:ext cx="0" cy="685800"/>
          </a:xfrm>
          <a:prstGeom prst="line">
            <a:avLst/>
          </a:prstGeom>
          <a:noFill/>
          <a:ln w="1524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5897880" y="2103120"/>
            <a:ext cx="2194560" cy="685800"/>
          </a:xfrm>
          <a:prstGeom prst="line">
            <a:avLst/>
          </a:prstGeom>
          <a:noFill/>
          <a:ln w="15240">
            <a:solidFill>
              <a:srgbClr val="B23A3A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731520" y="46634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  <a:effectLst>
            <a:outerShdw blurRad="25400" dist="50800" dir="2700000" algn="bl" rotWithShape="0">
              <a:srgbClr val="A7B7CB">
                <a:alpha val="24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960120" y="4800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funcional validada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960120" y="51663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Cliente elegible conocido  ·  ✓ Historial insuficiente  ·  ✓ Lote mixto  ·  ✓ Recuperación de los cuatro segmentos  ·  ✓ Holdout: ARI medio 0.9747</a:t>
            </a:r>
            <a:endParaRPr lang="en-US" sz="980" dirty="0"/>
          </a:p>
        </p:txBody>
      </p:sp>
      <p:sp>
        <p:nvSpPr>
          <p:cNvPr id="142" name="Shape 140"/>
          <p:cNvSpPr/>
          <p:nvPr/>
        </p:nvSpPr>
        <p:spPr>
          <a:xfrm>
            <a:off x="2926080" y="5943600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FF4DA"/>
          </a:solidFill>
          <a:ln w="16510">
            <a:solidFill>
              <a:srgbClr val="C9972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063240" y="60533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2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prototipo convierte la segmentación en una herramienta operativa de apoyo a campañas.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664</Words>
  <Application>Microsoft Office PowerPoint</Application>
  <PresentationFormat>Panorámica</PresentationFormat>
  <Paragraphs>183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</vt:vector>
  </TitlesOfParts>
  <Company>UAX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metodológico integral para la generación de clusters y asignación de nuevos clientes</dc:title>
  <dc:subject>Flujo metodológico integral para TFM</dc:subject>
  <dc:creator>Joel Bonilla</dc:creator>
  <cp:lastModifiedBy>Joel Bonilla</cp:lastModifiedBy>
  <cp:revision>2</cp:revision>
  <dcterms:created xsi:type="dcterms:W3CDTF">2026-06-20T17:40:24Z</dcterms:created>
  <dcterms:modified xsi:type="dcterms:W3CDTF">2026-06-20T18:12:19Z</dcterms:modified>
</cp:coreProperties>
</file>